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286000"/>
            <a:ext cx="5029200" cy="5029200"/>
          </a:xfrm>
          <a:prstGeom prst="ellipse">
            <a:avLst/>
          </a:prstGeom>
          <a:solidFill>
            <a:srgbClr val="2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103120" cy="310896"/>
          </a:xfrm>
          <a:prstGeom prst="round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メイリオ"/>
              </a:rPr>
              <a:t>  PMM伴走サマリ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メイリオ"/>
              </a:rPr>
              <a:t>カンリーPMM伴走サマリ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E6FE"/>
                </a:solidFill>
                <a:latin typeface="メイリオ"/>
              </a:rPr>
              <a:t>店舗集客事業 × カンリーローカル在庫  — 二軸アプローチでの整理 v0.1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4114800" cy="40000"/>
          </a:xfrm>
          <a:prstGeom prst="rect">
            <a:avLst/>
          </a:prstGeom>
          <a:solidFill>
            <a:srgbClr val="34B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9E6FE"/>
                </a:solidFill>
                <a:latin typeface="メイリオ"/>
              </a:rPr>
              <a:t>2026年5月29日（木）藤林さん × 宮本 定例MTG用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9E6FE"/>
                </a:solidFill>
                <a:latin typeface="メイリオ"/>
              </a:rPr>
              <a:t>Drafted by 宮本（PMM伴走）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本日のアジェンダ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5/24キックオフ以降の整理 × 方向性合意の場として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" cy="457200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41148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3533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前回（5/24キックオフ）振り返り＋宿題進捗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533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メイリオ"/>
              </a:rPr>
              <a:t>5分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64792"/>
            <a:ext cx="8412480" cy="457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64792"/>
            <a:ext cx="54864" cy="457200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856232"/>
            <a:ext cx="41148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8562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88366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二軸アプローチ宣言：店舗集客＝土台 / ローカル在庫＝個別深堀り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883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メイリオ"/>
              </a:rPr>
              <a:t>3分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95144"/>
            <a:ext cx="8412480" cy="457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295144"/>
            <a:ext cx="54864" cy="457200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386584"/>
            <a:ext cx="41148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865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414015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店舗集客事業 GTM-A 全体まとめ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4140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メイリオ"/>
              </a:rPr>
              <a:t>5分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25496"/>
            <a:ext cx="8412480" cy="457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825496"/>
            <a:ext cx="54864" cy="457200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16936"/>
            <a:ext cx="41148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9169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9443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カンリーローカル在庫 GTM-B 個別深堀り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9443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メイリオ"/>
              </a:rPr>
              <a:t>10分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55848"/>
            <a:ext cx="8412480" cy="457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355848"/>
            <a:ext cx="54864" cy="457200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447288"/>
            <a:ext cx="41148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4472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3474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LP精査v0.1 — 改善ポイント＆ファーストビュー3案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474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メイリオ"/>
              </a:rPr>
              <a:t>10分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886200"/>
            <a:ext cx="54864" cy="457200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977639"/>
            <a:ext cx="41148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97763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005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方向性論点5項目 × 4Q実装ロードマップ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005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メイリオ"/>
              </a:rPr>
              <a:t>7分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5/24 キックオフMTG 振り返り — 主要決定事項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藤林さん×宮本 / 5/20 正式契約後の実質キックオフ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10312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1234440"/>
            <a:ext cx="630936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23444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5/24時点での確定事項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8412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4533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メイリオ"/>
              </a:rPr>
              <a:t>スコープ拡張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545336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メイリオ"/>
              </a:rPr>
              <a:t>ローカル在庫単体 → 全プロダクトPMM伴走へ拡張（EP/MID＋オプション＋ローカル在庫＋HP＋Sierra構想）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01952"/>
            <a:ext cx="8412480" cy="393192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3852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メイリオ"/>
              </a:rPr>
              <a:t>カテゴリー上位概念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1938528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メイリオ"/>
              </a:rPr>
              <a:t>『公式ローカル在庫』案C直行 → 『エージェンティックコマース＝カンリー』が上位カテゴリへ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95144"/>
            <a:ext cx="8412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317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メイリオ"/>
              </a:rPr>
              <a:t>中国インバウンド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2331720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メイリオ"/>
              </a:rPr>
              <a:t>日中関係悪化で撤退方針。代替売上の構築が必要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88336"/>
            <a:ext cx="8412480" cy="393192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24912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メイリオ"/>
              </a:rPr>
              <a:t>9月期通過必達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724912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メイリオ"/>
              </a:rPr>
              <a:t>26/8単月黒字化見込み。Rule of 40 = 43%達成。一人当たり売上1,600万円目標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81528"/>
            <a:ext cx="8412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18104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メイリオ"/>
              </a:rPr>
              <a:t>シリーズD準備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3118104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メイリオ"/>
              </a:rPr>
              <a:t>2026年6-12月クロージング予定。5億〜30億調達。IPO 27/7-29/7期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8412480" cy="393192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11296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メイリオ"/>
              </a:rPr>
              <a:t>4Q組織変更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3511296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メイリオ"/>
              </a:rPr>
              <a:t>福利厚生→ENP/MID合流／AX部新設／PMMユニット新設（神田大成兼任）／契約管理一元化PJ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67912"/>
            <a:ext cx="84124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0448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メイリオ"/>
              </a:rPr>
              <a:t>次回MTG（本日）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3904488"/>
            <a:ext cx="6217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メイリオ"/>
              </a:rPr>
              <a:t>5/29(木)18:00 オンライン → 本資料で方向性合意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藤林さん要望項目 × 進捗状況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5/24 MTGで言及された宿題のステータス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宿題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ステータス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234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着地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84124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全プロダクト整理（カテゴリ／ポジ／メッセージング）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581912"/>
            <a:ext cx="1097280" cy="210312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581912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完了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508760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プロダクト階層ツリー v0.1 ＋ GTM-A/B/C 3本作成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65376"/>
            <a:ext cx="8412480" cy="356616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65376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865376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全商材バトルカード作成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1938528"/>
            <a:ext cx="1097280" cy="210312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938528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v1着手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865376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vs mov v1完成。他商材は4Q順次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21992"/>
            <a:ext cx="84124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221992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221992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Agentic Commerce海外競合リサーチ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2295144"/>
            <a:ext cx="1097280" cy="210312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295144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残論点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221992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4Q重点。本MTG後に着手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578608"/>
            <a:ext cx="8412480" cy="356616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578608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578608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ホワイトペーパー量産パイプライン構築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2651760"/>
            <a:ext cx="1097280" cy="210312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2651760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準備中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578608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木下さんと4Q重点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935224"/>
            <a:ext cx="84124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935224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935224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LP/サイト刷新（店舗検索ページ4年放置解消）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20" y="3008376"/>
            <a:ext cx="1097280" cy="210312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3008376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v0.1着手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2935224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LP精査v0.1 完成（本資料 SEC 05）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291840"/>
            <a:ext cx="8412480" cy="356616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291840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3291840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Notion管理板（生きた管理ドキュメント）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17720" y="3364992"/>
            <a:ext cx="1097280" cy="210312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3364992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完了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3291840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Living Doc HTML 4本（GTM-A/B/C＋LP精査）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648456"/>
            <a:ext cx="84124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648456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648456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7月中：来期方針経営陣プレゼン用素材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17720" y="3721608"/>
            <a:ext cx="1097280" cy="210312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3721608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継続作成中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3648456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本Living Docを土台に集約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005072"/>
            <a:ext cx="8412480" cy="356616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005072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B3A6B"/>
                </a:solidFill>
                <a:latin typeface="メイリオ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4005072"/>
            <a:ext cx="36576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Sierra POC subject 1 で宮本会社の打診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17720" y="4078224"/>
            <a:ext cx="1097280" cy="210312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17720" y="4078224"/>
            <a:ext cx="1097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メイリオ"/>
              </a:rPr>
              <a:t>待ち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4005072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CEO・現役者MTG設定待ち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E6FE"/>
                </a:solidFill>
                <a:latin typeface="Calibri"/>
              </a:rP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メイリオ"/>
              </a:rPr>
              <a:t>店舗集客事業 — 全体まとめ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E6FE"/>
                </a:solidFill>
                <a:latin typeface="メイリオ"/>
              </a:rPr>
              <a:t>GTM-A：全社で共通言語を揃える土台。広く・薄く・素人向けの整理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GTM-A：店舗集客事業 10要素 ステータス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Foundation #1-5 / Execution #6-9 / Internal Alignment #10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状態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88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主要トピック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4475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44475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ICP &amp; Personas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499616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49961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44475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Tier1メガエンプラ(100店超) / Tier2ミッド(10-99) / 応援団株主6,000店舗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73736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7373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Problem /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1792224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17922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7373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媒体管理工数 / 人材不足危機 / Agentic Commerce対応の3大ペイン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029968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299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02996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Positioning &amp; Messaging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2084832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20848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02996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3層：エージェンティックコマース → 集客力UP → 三位一体経営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322576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32257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3225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Pricing &amp; Packaging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2377440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237744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3225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ARPA 16.3万→22.5万円 / 解約率0.52% / ストック85.3%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615184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61518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61518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Competition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88920" y="2670048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267004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61518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MEO 3社収斂（カンリー / mov / GMO TECH）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907792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90779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29077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Sales Pitch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88920" y="2962656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296265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290779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RAG基盤×Notebook LM×Gemini → 受注率+2.2pt達成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200400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20040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200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Marketing Channels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88920" y="3255264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88920" y="325526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32004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外資総代理店ハック（Yahoo!/Apple/Uberall/Yexsys/Google LFP）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93008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49300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34930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Sales Enablement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88920" y="3547872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920" y="35478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349300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RAG基盤完成 / 商材横断バトルカード整備が4Q山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785616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378561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37856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Product Adoption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88920" y="3840480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88920" y="38404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378561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顧客社数3年で1.77倍（291→514） / CS1人ARR 87.5百万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078224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07822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407822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Internal Alignment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88920" y="4133087"/>
            <a:ext cx="73152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88920" y="4133087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407822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4Q組織変更5本柱 / 黒字化で証明する全社O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04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GTM-A：ポジショニング3層構造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カテゴリー → ビジョン → ポジショニング・メッセージング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solidFill>
            <a:srgbClr val="C9E6FE"/>
          </a:solidFill>
          <a:ln w="9525">
            <a:solidFill>
              <a:srgbClr val="267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53312"/>
            <a:ext cx="1371600" cy="310896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カテゴリー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353312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エージェンティックコマース ＝ カンリー（来店型 × マルチチャネル横断）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solidFill>
            <a:srgbClr val="E7F4E9"/>
          </a:solidFill>
          <a:ln w="9525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039112"/>
            <a:ext cx="1371600" cy="31089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39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ビジョン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039112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ヒトとAIの力で、店舗の集客力を上げる（〜30/7期 新Vision）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solidFill>
            <a:srgbClr val="FFF7E5"/>
          </a:solidFill>
          <a:ln w="9525">
            <a:solidFill>
              <a:srgbClr val="FF7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24912"/>
            <a:ext cx="1371600" cy="310896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249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</a:rPr>
              <a:t>ポジショニング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724912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メイリオ"/>
              </a:rPr>
              <a:t>店舗集客AIエージェント構想 × 三位一体経営 × MEO→AIO→Agentic Commerce 3段階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▶ 主軸ナラティブ推奨（宮本案）：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A案『Agentic Commerce × 来店型』を主軸、B-D（AIカンパニー転身 / 三位一体経営 / 国内シェアNo.1）は補強角度。
NRF26テーマ連動＋6/1 MEOエージェントプレスとの相性が最も良い。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05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E6FE"/>
                </a:solidFill>
                <a:latin typeface="Calibri"/>
              </a:rP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カンリーローカル在庫 — 個別深堀り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E6FE"/>
                </a:solidFill>
                <a:latin typeface="メイリオ"/>
              </a:rPr>
              <a:t>GTM-B：藤林さんが主軸。狭く・深く・LPからコンテンツまで個別整理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GTM-B：カンリーローカル在庫 10要素 ステータス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戦略商材として独立扱い / 親GTM-A『エージェンティックコマース』カテゴリのCV装置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状態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887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主要トピック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4475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44475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ICP &amp; Personas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499616"/>
            <a:ext cx="82296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49961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44475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小売×EC両運営の中〜大規模チェーン（嘉穂無線HD/ビジョナリーHD/ムラサキ）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73736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7373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Problem /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1792224"/>
            <a:ext cx="82296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79222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7373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店頭在庫非可視化 / 問合せ負荷 / OMO ROI不可視の3大ペイン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029968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0299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02996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Positioning &amp; Messaging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2084832"/>
            <a:ext cx="82296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208483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02996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3層：公式ローカル在庫 → 在庫鮮度供給 → LFP独占×統合運用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322576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32257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3225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Pricing &amp; Packaging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2377440"/>
            <a:ext cx="822960" cy="1828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2377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未確定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3225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独立プライシング未設計（4Q要設計）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615184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61518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261518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Competition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2670048"/>
            <a:ext cx="82296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267004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261518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mov深堀り（LFP認定なし）／海外Agentic Commerce勢を将来脅威として監視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907792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90779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290779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Sales Pitch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2962656"/>
            <a:ext cx="82296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0" y="296265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290779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vs mov バトルカードv1完成（公式性 / 代理店集約 / 統合運用の3軸）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200400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20040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200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Marketing Channels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0" y="3255264"/>
            <a:ext cx="822960" cy="1828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325526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🔴最優先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32004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LP/コンテンツ精査 → LP精査v0.1 完成（次スライド）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93008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49300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34930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Sales Enablement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0" y="3547872"/>
            <a:ext cx="822960" cy="1828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0" y="35478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🔴最優先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349300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藤林属人化解消 → 既存営業20名への展開が4Q最大ミッション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785616"/>
            <a:ext cx="84124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378561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37856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Product Adoption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0" y="3840480"/>
            <a:ext cx="82296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0" y="3840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378561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Google年1万店舗コミット（4ヶ月で3,000店舗達成）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078224"/>
            <a:ext cx="8412480" cy="292608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07822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B3A6B"/>
                </a:solidFill>
                <a:latin typeface="メイリオ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407822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A1A2E"/>
                </a:solidFill>
                <a:latin typeface="メイリオ"/>
              </a:rPr>
              <a:t>Internal Alignment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0" y="4133087"/>
            <a:ext cx="822960" cy="182880"/>
          </a:xfrm>
          <a:prstGeom prst="round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0" y="413308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メイリオ"/>
              </a:rPr>
              <a:t>進行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407822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藤林（オーナー）×宮本（伴走）×木下（コンテンツ）の3角形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06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GTM-B：ポジショニング3層構造 — 案C直行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親GTM-A『エージェンティックコマース』のCV層装置として位置付け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solidFill>
            <a:srgbClr val="C9E6FE"/>
          </a:solidFill>
          <a:ln w="9525">
            <a:solidFill>
              <a:srgbClr val="267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9304"/>
            <a:ext cx="1371600" cy="301752"/>
          </a:xfrm>
          <a:prstGeom prst="rect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9304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カテゴリー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289304"/>
            <a:ext cx="6309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メイリオ"/>
              </a:rPr>
              <a:t>公式ローカル在庫 ＝ カンリー（案C直行 / 指名検索獲得狙い）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8046720" cy="502920"/>
          </a:xfrm>
          <a:prstGeom prst="rect">
            <a:avLst/>
          </a:prstGeom>
          <a:solidFill>
            <a:srgbClr val="E7F4E9"/>
          </a:solidFill>
          <a:ln w="9525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29384"/>
            <a:ext cx="1371600" cy="3017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9384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ビジョン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929384"/>
            <a:ext cx="6309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メイリオ"/>
              </a:rPr>
              <a:t>『今、ここにある在庫』をAIが判断できる鮮度で、多面的に供給し続ける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solidFill>
            <a:srgbClr val="FFF7E5"/>
          </a:solidFill>
          <a:ln w="9525">
            <a:solidFill>
              <a:srgbClr val="FF7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69464"/>
            <a:ext cx="1371600" cy="301752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69464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</a:rPr>
              <a:t>ポジショニング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569464"/>
            <a:ext cx="6309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メイリオ"/>
              </a:rPr>
              <a:t>Google LFP独占（国内2社のみ） × 代理店契約集約 × カンリー店舗集客との統合運用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3931920" cy="1188720"/>
          </a:xfrm>
          <a:prstGeom prst="rect">
            <a:avLst/>
          </a:prstGeom>
          <a:solidFill>
            <a:srgbClr val="FFF7E5"/>
          </a:solidFill>
          <a:ln w="952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860B"/>
                </a:solidFill>
                <a:latin typeface="メイリオ"/>
              </a:rPr>
              <a:t>📎 親GTM-Aとの関係性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11879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最上位カテゴリ『エージェンティックコマース ＝ カンリー』の中で、SierraがECで切り拓いた領域に対し、カンリーは『来店型でリアル店舗の在庫データ供給』として抑える戦略商材。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246120"/>
            <a:ext cx="3931920" cy="1188720"/>
          </a:xfrm>
          <a:prstGeom prst="rect">
            <a:avLst/>
          </a:prstGeom>
          <a:solidFill>
            <a:srgbClr val="F5F7FB"/>
          </a:solidFill>
          <a:ln w="9525">
            <a:solidFill>
              <a:srgbClr val="267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37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670D8"/>
                </a:solidFill>
                <a:latin typeface="メイリオ"/>
              </a:rPr>
              <a:t>📜 4/15 藤林さんdinnerでの合意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11879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「このサービスはマーケット独占、オールオアナッシング」「Google公式ローカル在庫といえばカンリーで指名検索取りたい」 → 案A→C段階移行ではなく案C直行へ。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07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LP精査 v0.1 — local.can-ly.com 重要発見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2026-05-28 Playwright取得＋競合mov対比から導出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1148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3152" cy="1280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メイリオ"/>
              </a:rPr>
              <a:t>🔴 致命的①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B3A6B"/>
                </a:solidFill>
                <a:latin typeface="メイリオ"/>
              </a:rPr>
              <a:t>LFP「国内2社目」希少性訴求が抜け落ち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現状LP：「Google Local Feed Partner(LFP)認定を取得」しか書いていない。最強の差別化『日本で公式運用可能2社のみ』がファーストビューに無い。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88720"/>
            <a:ext cx="41148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73152" cy="1280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2801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メイリオ"/>
              </a:rPr>
              <a:t>🔴 致命的②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08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B3A6B"/>
                </a:solidFill>
                <a:latin typeface="メイリオ"/>
              </a:rPr>
              <a:t>競合mov「ローカルインベントリーマーケティング」への撃ち返しゼロ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2880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movは独自カテゴリ用語で認知戦展開中。LP上で対抗描写一切なし。『公式認定』vs『監修のみ』の構造差を1セクション必要。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0320"/>
            <a:ext cx="41148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60320"/>
            <a:ext cx="73152" cy="1280160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517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E1C"/>
                </a:solidFill>
                <a:latin typeface="メイリオ"/>
              </a:rPr>
              <a:t>🟠 重要①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80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B3A6B"/>
                </a:solidFill>
                <a:latin typeface="メイリオ"/>
              </a:rPr>
              <a:t>Agentic Commerce／NRF26連動が浅い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0040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「AIに選ばれる仕組み」セクションあるが、上位カテゴリ用語との連動が弱い。『Why Now?』セクション新設で強化候補。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560320"/>
            <a:ext cx="41148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2560320"/>
            <a:ext cx="73152" cy="1280160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6517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E1C"/>
                </a:solidFill>
                <a:latin typeface="メイリオ"/>
              </a:rPr>
              <a:t>🟠 重要②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880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B3A6B"/>
                </a:solidFill>
                <a:latin typeface="メイリオ"/>
              </a:rPr>
              <a:t>業種別ターゲティング／数値訴求弱い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20040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VoC 3社あるが、業種別タブ／業種別1pagerDLが無い。「3つの特徴」も平凡コピー＋具体数値訴求が弱い。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FFF7E5"/>
          </a:solidFill>
          <a:ln w="9525">
            <a:solidFill>
              <a:srgbClr val="FF7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7E1C"/>
                </a:solidFill>
                <a:latin typeface="メイリオ"/>
              </a:rPr>
              <a:t>▶ これ1点でLP印象が大きく変わる：『国内2社目』希少性訴求をHero部分に即明示。LFP認定バッジを大きく配置。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08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改善版ファーストビュー — A/B/C 3案 ＋ 宮本推奨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公式性 / 時代潮流 / 成果 の3軸で書き分け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8412480" cy="1691640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9E6FE"/>
                </a:solidFill>
                <a:latin typeface="メイリオ"/>
              </a:rPr>
              <a:t>★ 宮本推奨 ／ A案：公式性で勝つ（藤林さん『案C直行』ナラティブと最整合）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</a:rPr>
              <a:t>国内2社目。『公式』ローカル在庫といえばカンリー。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C9E6FE"/>
                </a:solidFill>
                <a:latin typeface="メイリオ"/>
              </a:rPr>
              <a:t>Google Local Feed Partner（LFP）国内2社目認定パートナー。日本で「公式に」店舗の在庫情報をGoogle検索／マップ／ショッピングへ連携できるのは、カンリーを含む2社のみ。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41148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457200" cy="228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B案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918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時代潮流で勝つ（NRF26連動・経営層向け）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「検索の終わり、AI購買の時代へ。
『今、ここにある在庫』が分水嶺。」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017520"/>
            <a:ext cx="41148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017520"/>
            <a:ext cx="457200" cy="228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017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C案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918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成果で勝つ（実務層・現場層向け）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611880"/>
            <a:ext cx="3840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「店頭在庫が、検索の瞬間に見える。
来店も、購入も、取り逃さない。」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09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vs mov（口コミコム）対比 — バトルカードv1 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LP上での描き方は、直接競合名を出さず構造的差別化として表現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8288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188720"/>
            <a:ext cx="329184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188720"/>
            <a:ext cx="329184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論点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カンリー（自社）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mov（競合）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6304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1463040"/>
            <a:ext cx="3291840" cy="502920"/>
          </a:xfrm>
          <a:prstGeom prst="rect">
            <a:avLst/>
          </a:prstGeom>
          <a:solidFill>
            <a:srgbClr val="E7F4E9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463040"/>
            <a:ext cx="3291840" cy="502920"/>
          </a:xfrm>
          <a:prstGeom prst="rect">
            <a:avLst/>
          </a:prstGeom>
          <a:solidFill>
            <a:srgbClr val="FFEBE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4630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メイリオ"/>
              </a:rPr>
              <a:t>Googleとの関係性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4996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Google公式 LFP 国内2社目認定（2025年10月）
日本で運用可能2社のみ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4996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GBPエキスパート監修のみ
LFP認定なし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1965960"/>
            <a:ext cx="3291840" cy="502920"/>
          </a:xfrm>
          <a:prstGeom prst="rect">
            <a:avLst/>
          </a:prstGeom>
          <a:solidFill>
            <a:srgbClr val="E7F4E9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1965960"/>
            <a:ext cx="3291840" cy="502920"/>
          </a:xfrm>
          <a:prstGeom prst="rect">
            <a:avLst/>
          </a:prstGeom>
          <a:solidFill>
            <a:srgbClr val="FFEBE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メイリオ"/>
              </a:rPr>
              <a:t>代理店経路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00253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広告代理店は全員カンリーLFPを担ぐ
契約に集約済（4/15判明）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00253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残るはmovのみ（実質消滅）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6888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2468880"/>
            <a:ext cx="3291840" cy="502920"/>
          </a:xfrm>
          <a:prstGeom prst="rect">
            <a:avLst/>
          </a:prstGeom>
          <a:solidFill>
            <a:srgbClr val="E7F4E9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2468880"/>
            <a:ext cx="3291840" cy="502920"/>
          </a:xfrm>
          <a:prstGeom prst="rect">
            <a:avLst/>
          </a:prstGeom>
          <a:solidFill>
            <a:srgbClr val="FFEBE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46888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メイリオ"/>
              </a:rPr>
              <a:t>初期導入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50545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LFP認定で「在庫確認」工程短縮
1〜2ヶ月で運用開始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50545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『在庫確認』工程が重い負荷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71800"/>
            <a:ext cx="1828800" cy="502920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0" y="2971800"/>
            <a:ext cx="3291840" cy="502920"/>
          </a:xfrm>
          <a:prstGeom prst="rect">
            <a:avLst/>
          </a:prstGeom>
          <a:solidFill>
            <a:srgbClr val="E7F4E9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2971800"/>
            <a:ext cx="3291840" cy="502920"/>
          </a:xfrm>
          <a:prstGeom prst="rect">
            <a:avLst/>
          </a:prstGeom>
          <a:solidFill>
            <a:srgbClr val="FFEBE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9718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メイリオ"/>
              </a:rPr>
              <a:t>顧客基盤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0083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13万店舗のMEO/GBP一括管理基盤
との統合運用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0083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単体ローカル在庫サービス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7472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4560" y="3474720"/>
            <a:ext cx="3291840" cy="502920"/>
          </a:xfrm>
          <a:prstGeom prst="rect">
            <a:avLst/>
          </a:prstGeom>
          <a:solidFill>
            <a:srgbClr val="E7F4E9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3474720"/>
            <a:ext cx="3291840" cy="502920"/>
          </a:xfrm>
          <a:prstGeom prst="rect">
            <a:avLst/>
          </a:prstGeom>
          <a:solidFill>
            <a:srgbClr val="FFEBE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4747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メイリオ"/>
              </a:rPr>
              <a:t>導入実績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35112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嘉穂無線HD / ビジョナリーHD / ムラサキスポーツ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5112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BOOKOFF / ロフト / アンダーアーマー / ビックカメラ / 二木ゴルフ等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977639"/>
            <a:ext cx="1828800" cy="502920"/>
          </a:xfrm>
          <a:prstGeom prst="rect">
            <a:avLst/>
          </a:prstGeom>
          <a:solidFill>
            <a:srgbClr val="F8FAFD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94560" y="3977639"/>
            <a:ext cx="3291840" cy="502920"/>
          </a:xfrm>
          <a:prstGeom prst="rect">
            <a:avLst/>
          </a:prstGeom>
          <a:solidFill>
            <a:srgbClr val="E7F4E9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3977639"/>
            <a:ext cx="3291840" cy="502920"/>
          </a:xfrm>
          <a:prstGeom prst="rect">
            <a:avLst/>
          </a:prstGeom>
          <a:solidFill>
            <a:srgbClr val="FFEBE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977639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メイリオ"/>
              </a:rPr>
              <a:t>カテゴリ訴求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4014215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公式ローカル在庫＝カンリー（案C直行）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014215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『ローカルインベントリーマーケティング』独自ネーミング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10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B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267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9E6FE"/>
                </a:solidFill>
                <a:latin typeface="Calibri"/>
              </a:rPr>
              <a:t>SECTION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方向性論点 ＆ 次のアクション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9E6FE"/>
                </a:solidFill>
                <a:latin typeface="メイリオ"/>
              </a:rPr>
              <a:t>5/29 MTGで方向性合意をもらいたい5項目 / 4Q実装ロードマップ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5/29 MTG 議論ポイント 5項目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本日合意取りたい方向性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73152" cy="1051560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E1C"/>
                </a:solidFill>
                <a:latin typeface="メイリオ"/>
              </a:rPr>
              <a:t>論点 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改善版ファーストビュー A/B/C 3案 から1案選定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宮本推奨：A案（公式性で勝つ）— 案C直行ナラティブと最整合。藤林さん＋木下さん意見を踏まえて選定。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88720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73152" cy="1051560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261872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E1C"/>
                </a:solidFill>
                <a:latin typeface="メイリオ"/>
              </a:rPr>
              <a:t>論点 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81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新規セクション3本（Why Now / 業種別 / vs mov）の制作優先順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783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SEC 02 Why Now（NRF26連動）／SEC 05 業種別タブ／SEC 08 vs mov 構造差別化 — どこから着手？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331720"/>
            <a:ext cx="73152" cy="1051560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04872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E1C"/>
                </a:solidFill>
                <a:latin typeface="メイリオ"/>
              </a:rPr>
              <a:t>論点 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24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マイクロCV装置の追加可否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業種別1pagerDL / LFP適合チェッカー / ROI試算ツール — Sales Marker 流用可。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331720"/>
            <a:ext cx="41148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404872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E1C"/>
                </a:solidFill>
                <a:latin typeface="メイリオ"/>
              </a:rPr>
              <a:t>論点 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62432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料金情報の段階開示戦略（神田さんと共有）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26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完全非公開維持（希少性プレミアム）vs 目安レンジ開示（リード獲得）— どちらに振る？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74720"/>
            <a:ext cx="8412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474720"/>
            <a:ext cx="73152" cy="1051560"/>
          </a:xfrm>
          <a:prstGeom prst="rect">
            <a:avLst/>
          </a:prstGeom>
          <a:solidFill>
            <a:srgbClr val="FF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478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7E1C"/>
                </a:solidFill>
                <a:latin typeface="メイリオ"/>
              </a:rPr>
              <a:t>論点 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7673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メイリオ"/>
              </a:rPr>
              <a:t>木下さん連携でホワイトペーパー量産パイプラインの中身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069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第1本目候補：「Agentic Commerce時代の店舗集客 — MEO→AIO→Agentic Commerce 3段階フレーム」。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11 /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4Q（26/5〜26/7）実装ロードマップ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『戦い方を変え、黒字化で証明する』全社O ＋ ローカル在庫個別深堀り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463040" cy="274320"/>
          </a:xfrm>
          <a:prstGeom prst="rect">
            <a:avLst/>
          </a:prstGeom>
          <a:solidFill>
            <a:srgbClr val="2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188720"/>
            <a:ext cx="3657600" cy="274320"/>
          </a:xfrm>
          <a:prstGeom prst="rect">
            <a:avLst/>
          </a:prstGeom>
          <a:solidFill>
            <a:srgbClr val="2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188720"/>
            <a:ext cx="3291840" cy="274320"/>
          </a:xfrm>
          <a:prstGeom prst="rect">
            <a:avLst/>
          </a:prstGeom>
          <a:solidFill>
            <a:srgbClr val="2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188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ローカル在庫（GTM-B）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メイリオ"/>
              </a:rPr>
              <a:t>  店舗集客事業（GTM-A）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63040"/>
            <a:ext cx="1463040" cy="502920"/>
          </a:xfrm>
          <a:prstGeom prst="rect">
            <a:avLst/>
          </a:prstGeom>
          <a:solidFill>
            <a:srgbClr val="C9E6F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1463040"/>
            <a:ext cx="3657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46304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46304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B3A6B"/>
                </a:solidFill>
                <a:latin typeface="メイリオ"/>
              </a:rPr>
              <a:t>5月末〜6月前半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49961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ファーストビュー刷新（A案実装）／LFP希少性訴求強化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4996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6/1 MEOエージェントプレス連動 / Internal Alignment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65960"/>
            <a:ext cx="1463040" cy="502920"/>
          </a:xfrm>
          <a:prstGeom prst="rect">
            <a:avLst/>
          </a:prstGeom>
          <a:solidFill>
            <a:srgbClr val="C9E6F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1965960"/>
            <a:ext cx="3657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196596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96596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B3A6B"/>
                </a:solidFill>
                <a:latin typeface="メイリオ"/>
              </a:rPr>
              <a:t>6月中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00253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新規SEC 02 Why Now / SEC 08 vs mov 追加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00253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RAG基盤への商談録音統合強化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68880"/>
            <a:ext cx="1463040" cy="502920"/>
          </a:xfrm>
          <a:prstGeom prst="rect">
            <a:avLst/>
          </a:prstGeom>
          <a:solidFill>
            <a:srgbClr val="C9E6F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2468880"/>
            <a:ext cx="3657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246888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46888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B3A6B"/>
                </a:solidFill>
                <a:latin typeface="メイリオ"/>
              </a:rPr>
              <a:t>6月後半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50545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SEC 05 業種別タブ / 業種別1pagerDL動線整備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50545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全商材バトルカード×5本（4Q末完成目標）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71800"/>
            <a:ext cx="1463040" cy="502920"/>
          </a:xfrm>
          <a:prstGeom prst="rect">
            <a:avLst/>
          </a:prstGeom>
          <a:solidFill>
            <a:srgbClr val="C9E6F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2971800"/>
            <a:ext cx="3657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297180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97180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B3A6B"/>
                </a:solidFill>
                <a:latin typeface="メイリオ"/>
              </a:rPr>
              <a:t>7月前半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00837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マイクロCV装置追加（LFP適合チェッカー等）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00837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経営陣プレゼン素材集約（7月中達成）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74720"/>
            <a:ext cx="1463040" cy="502920"/>
          </a:xfrm>
          <a:prstGeom prst="rect">
            <a:avLst/>
          </a:prstGeom>
          <a:solidFill>
            <a:srgbClr val="C9E6F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0" y="3474720"/>
            <a:ext cx="3657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3474720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474720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B3A6B"/>
                </a:solidFill>
                <a:latin typeface="メイリオ"/>
              </a:rPr>
              <a:t>7月後半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51129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ホワイトペーパー第1本リリース（Agentic Commerce解説）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5112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商材整理一元管理PJと連携完了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977639"/>
            <a:ext cx="1463040" cy="502920"/>
          </a:xfrm>
          <a:prstGeom prst="rect">
            <a:avLst/>
          </a:prstGeom>
          <a:solidFill>
            <a:srgbClr val="C9E6FE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0" y="3977639"/>
            <a:ext cx="3657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0" y="3977639"/>
            <a:ext cx="32918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977639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B3A6B"/>
                </a:solidFill>
                <a:latin typeface="メイリオ"/>
              </a:rPr>
              <a:t>8月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014215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ホワイトペーパー量産パイプライン本格稼働（週次1本）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014215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26/8 単月黒字化達成 / 9期準備完了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12 /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79" y="164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メイリオ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8412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メイリオ"/>
              </a:rPr>
              <a:t>▶ 次のアクション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8412480" cy="20000"/>
          </a:xfrm>
          <a:prstGeom prst="rect">
            <a:avLst/>
          </a:prstGeom>
          <a:solidFill>
            <a:srgbClr val="C9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メイリオ"/>
              </a:rPr>
              <a:t>本MTG後の動き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114800" cy="2560320"/>
          </a:xfrm>
          <a:prstGeom prst="rect">
            <a:avLst/>
          </a:prstGeom>
          <a:solidFill>
            <a:srgbClr val="FFF7E5"/>
          </a:solidFill>
          <a:ln w="9525">
            <a:solidFill>
              <a:srgbClr val="FF7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7E1C"/>
                </a:solidFill>
                <a:latin typeface="メイリオ"/>
              </a:rPr>
              <a:t>📌 宮本側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本日の議論を Living Doc HTML 4本に反映（5/30）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Agentic Commerce 海外競合リサーチ着手（4Q最重点）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SEC 02 Why Now ホワイトペーパー第1本草案（6月前半）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木下さん連携で量産パイプライン設計（6月中）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毎週木曜18:00 定例継続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188720"/>
            <a:ext cx="4114800" cy="2560320"/>
          </a:xfrm>
          <a:prstGeom prst="rect">
            <a:avLst/>
          </a:prstGeom>
          <a:solidFill>
            <a:srgbClr val="E7F4E9"/>
          </a:solidFill>
          <a:ln w="9525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280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5E20"/>
                </a:solidFill>
                <a:latin typeface="メイリオ"/>
              </a:rPr>
              <a:t>📌 カンリー側（藤林さん）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6459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本資料を神田さん／木下さんへ共有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0116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Sierra POC subject 1 で宮本会社の打診タイミング調整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3774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料金開示戦略を神田さんと整理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432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メイリオ"/>
              </a:rPr>
              <a:t>• 6/1 MEOエージェントプレスドラフトの宮本レビュー依頼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メイリオ"/>
              </a:rPr>
              <a:t>📎 共有用：本資料はGitHub Pagesにデプロイ済み（temporary noindex）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9E6FE"/>
                </a:solidFill>
                <a:latin typeface="Calibri"/>
              </a:rPr>
              <a:t>https://kota3300.github.io/canly-fpr-34cb6f0b/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メイリオ"/>
              </a:rPr>
              <a:t>Copyright © 株式会社カンリー. All rights reserved. (PMM伴走サマリ)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メイリオ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